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nva Sans Bold Italics" charset="1" panose="020B0803030501040103"/>
      <p:regular r:id="rId21"/>
    </p:embeddedFont>
    <p:embeddedFont>
      <p:font typeface="Montserrat Bold" charset="1" panose="00000800000000000000"/>
      <p:regular r:id="rId22"/>
    </p:embeddedFont>
    <p:embeddedFont>
      <p:font typeface="Fredoka" charset="1" panose="02000000000000000000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6588" y="688422"/>
            <a:ext cx="8294823" cy="5529882"/>
          </a:xfrm>
          <a:custGeom>
            <a:avLst/>
            <a:gdLst/>
            <a:ahLst/>
            <a:cxnLst/>
            <a:rect r="r" b="b" t="t" l="l"/>
            <a:pathLst>
              <a:path h="5529882" w="8294823">
                <a:moveTo>
                  <a:pt x="0" y="0"/>
                </a:moveTo>
                <a:lnTo>
                  <a:pt x="8294824" y="0"/>
                </a:lnTo>
                <a:lnTo>
                  <a:pt x="8294824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91383" y="6096570"/>
            <a:ext cx="14110577" cy="94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b="true" sz="7778" spc="-326">
                <a:solidFill>
                  <a:srgbClr val="331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CDAC Final Project - Feb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04215" y="7206978"/>
            <a:ext cx="834009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-117">
                <a:solidFill>
                  <a:srgbClr val="331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Sunbeam Institute of Information Technology - Pune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2989" y="7850233"/>
            <a:ext cx="546651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i="true">
                <a:solidFill>
                  <a:srgbClr val="4D4A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Project Mentor - Manjush</a:t>
            </a:r>
            <a:r>
              <a:rPr lang="en-US" b="true" sz="2600" i="true" strike="noStrike" u="none">
                <a:solidFill>
                  <a:srgbClr val="4D4A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 </a:t>
            </a:r>
            <a:r>
              <a:rPr lang="en-US" b="true" sz="2600" i="true" strike="noStrike" u="none">
                <a:solidFill>
                  <a:srgbClr val="4D4A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600" i="true" strike="noStrike" u="none">
                <a:solidFill>
                  <a:srgbClr val="4D4A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</a:t>
            </a:r>
            <a:r>
              <a:rPr lang="en-US" b="true" sz="2600" i="true" strike="noStrike" u="none">
                <a:solidFill>
                  <a:srgbClr val="4D4A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kam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6435318" y="238632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143510" y="3344292"/>
            <a:ext cx="2583616" cy="2836305"/>
          </a:xfrm>
          <a:custGeom>
            <a:avLst/>
            <a:gdLst/>
            <a:ahLst/>
            <a:cxnLst/>
            <a:rect r="r" b="b" t="t" l="l"/>
            <a:pathLst>
              <a:path h="2836305" w="2583616">
                <a:moveTo>
                  <a:pt x="0" y="0"/>
                </a:moveTo>
                <a:lnTo>
                  <a:pt x="2583616" y="0"/>
                </a:lnTo>
                <a:lnTo>
                  <a:pt x="2583616" y="2836305"/>
                </a:lnTo>
                <a:lnTo>
                  <a:pt x="0" y="2836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67038" y="3344292"/>
            <a:ext cx="2583616" cy="2836305"/>
          </a:xfrm>
          <a:custGeom>
            <a:avLst/>
            <a:gdLst/>
            <a:ahLst/>
            <a:cxnLst/>
            <a:rect r="r" b="b" t="t" l="l"/>
            <a:pathLst>
              <a:path h="2836305" w="2583616">
                <a:moveTo>
                  <a:pt x="0" y="0"/>
                </a:moveTo>
                <a:lnTo>
                  <a:pt x="2583616" y="0"/>
                </a:lnTo>
                <a:lnTo>
                  <a:pt x="2583616" y="2836305"/>
                </a:lnTo>
                <a:lnTo>
                  <a:pt x="0" y="2836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41365" y="6439757"/>
            <a:ext cx="5980971" cy="79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2"/>
              </a:lnSpc>
              <a:spcBef>
                <a:spcPct val="0"/>
              </a:spcBef>
            </a:pPr>
            <a:r>
              <a:rPr lang="en-US" b="true" sz="4673">
                <a:solidFill>
                  <a:srgbClr val="4D4A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Sanika Deshpande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0764" y="6439757"/>
            <a:ext cx="4557072" cy="79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2"/>
              </a:lnSpc>
              <a:spcBef>
                <a:spcPct val="0"/>
              </a:spcBef>
            </a:pPr>
            <a:r>
              <a:rPr lang="en-US" b="true" sz="4673">
                <a:solidFill>
                  <a:srgbClr val="4D4A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</a:t>
            </a:r>
            <a:r>
              <a:rPr lang="en-US" b="true" sz="4673">
                <a:solidFill>
                  <a:srgbClr val="4D4A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achi Bobade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4148" y="958133"/>
            <a:ext cx="8669359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6245" y="61785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3907" y="2232101"/>
            <a:ext cx="15742141" cy="512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No instant delivery in traditional 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shopping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Users cannot check real-t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ime product availability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Lack of pincode-based delivery systems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Inefficient inventory across warehouses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Poor user experience in existing systems</a:t>
            </a:r>
          </a:p>
          <a:p>
            <a:pPr algn="l">
              <a:lnSpc>
                <a:spcPts val="490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6245" y="61785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3907" y="2232101"/>
            <a:ext cx="15742141" cy="512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Build a fast and scalable e-c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ommerce platform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Enable real-t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ime stock availability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Provide location-based delivery system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Optimize warehouse &amp; inventory management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Ensure secure and smooth checkout process</a:t>
            </a:r>
          </a:p>
          <a:p>
            <a:pPr algn="l">
              <a:lnSpc>
                <a:spcPts val="490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6245" y="61785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Scope of the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3907" y="2270201"/>
            <a:ext cx="13749716" cy="757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Develop a quick-commerce e-c</a:t>
            </a: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ommerce application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Enable user registrat</a:t>
            </a: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ion, login, and product browsing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Implement cart and checkout system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Provide multiple payment options (UPI, Card, COD)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Manage products, orders, and inventory (Admin panel)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Use warehouse-based system for fast delivery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Support order processing (pick, pack, ship)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Provide basic order tracking for users</a:t>
            </a:r>
          </a:p>
          <a:p>
            <a:pPr algn="l" marL="660576" indent="-330288" lvl="1">
              <a:lnSpc>
                <a:spcPts val="6149"/>
              </a:lnSpc>
              <a:buFont typeface="Arial"/>
              <a:buChar char="•"/>
            </a:pPr>
            <a:r>
              <a:rPr lang="en-US" sz="3059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Build a scalable prototype with core features only</a:t>
            </a:r>
          </a:p>
          <a:p>
            <a:pPr algn="l">
              <a:lnSpc>
                <a:spcPts val="428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6245" y="61785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Functional Modules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49973" y="1942251"/>
            <a:ext cx="9867321" cy="778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1"/>
              </a:lnSpc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Browse products based on location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Add items to cart &amp; make pay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ments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Track order status in real-t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ime</a:t>
            </a:r>
          </a:p>
          <a:p>
            <a:pPr algn="l">
              <a:lnSpc>
                <a:spcPts val="7041"/>
              </a:lnSpc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Admin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Manage product inventory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Assign orders to delivery partners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View sales &amp; performance analytics</a:t>
            </a:r>
          </a:p>
          <a:p>
            <a:pPr algn="l">
              <a:lnSpc>
                <a:spcPts val="490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6245" y="37691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Key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21711" y="1601973"/>
            <a:ext cx="10654128" cy="867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1"/>
              </a:lnSpc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Login/Register (OTP)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Browse &amp; search products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Add to cart &amp; checkou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Live</a:t>
            </a: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 order tracking</a:t>
            </a:r>
          </a:p>
          <a:p>
            <a:pPr algn="l">
              <a:lnSpc>
                <a:spcPts val="7041"/>
              </a:lnSpc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Admin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Manage products &amp; inventory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Order management</a:t>
            </a:r>
          </a:p>
          <a:p>
            <a:pPr algn="l" marL="756298" indent="-378149" lvl="1">
              <a:lnSpc>
                <a:spcPts val="7041"/>
              </a:lnSpc>
              <a:buFont typeface="Arial"/>
              <a:buChar char="•"/>
            </a:pPr>
            <a:r>
              <a:rPr lang="en-US" sz="3503">
                <a:solidFill>
                  <a:srgbClr val="4D4A7D"/>
                </a:solidFill>
                <a:latin typeface="Poppins"/>
                <a:ea typeface="Poppins"/>
                <a:cs typeface="Poppins"/>
                <a:sym typeface="Poppins"/>
              </a:rPr>
              <a:t>Pricing &amp; analytics</a:t>
            </a:r>
          </a:p>
          <a:p>
            <a:pPr algn="l">
              <a:lnSpc>
                <a:spcPts val="490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13058" y="2687513"/>
            <a:ext cx="13141492" cy="6418683"/>
          </a:xfrm>
          <a:custGeom>
            <a:avLst/>
            <a:gdLst/>
            <a:ahLst/>
            <a:cxnLst/>
            <a:rect r="r" b="b" t="t" l="l"/>
            <a:pathLst>
              <a:path h="6418683" w="13141492">
                <a:moveTo>
                  <a:pt x="0" y="0"/>
                </a:moveTo>
                <a:lnTo>
                  <a:pt x="13141492" y="0"/>
                </a:lnTo>
                <a:lnTo>
                  <a:pt x="13141492" y="6418683"/>
                </a:lnTo>
                <a:lnTo>
                  <a:pt x="0" y="6418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16245" y="376915"/>
            <a:ext cx="11705374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ER Diagram - Level 1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47908" y="1509344"/>
            <a:ext cx="12786308" cy="8777656"/>
          </a:xfrm>
          <a:custGeom>
            <a:avLst/>
            <a:gdLst/>
            <a:ahLst/>
            <a:cxnLst/>
            <a:rect r="r" b="b" t="t" l="l"/>
            <a:pathLst>
              <a:path h="8777656" w="12786308">
                <a:moveTo>
                  <a:pt x="0" y="0"/>
                </a:moveTo>
                <a:lnTo>
                  <a:pt x="12786308" y="0"/>
                </a:lnTo>
                <a:lnTo>
                  <a:pt x="12786308" y="8777656"/>
                </a:lnTo>
                <a:lnTo>
                  <a:pt x="0" y="8777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8" r="-1048" b="-13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16245" y="220427"/>
            <a:ext cx="12247743" cy="12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4"/>
              </a:lnSpc>
            </a:pPr>
            <a:r>
              <a:rPr lang="en-US" sz="9278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ER Diagram - Level 2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6955" y="1283571"/>
            <a:ext cx="15695986" cy="8613172"/>
          </a:xfrm>
          <a:custGeom>
            <a:avLst/>
            <a:gdLst/>
            <a:ahLst/>
            <a:cxnLst/>
            <a:rect r="r" b="b" t="t" l="l"/>
            <a:pathLst>
              <a:path h="8613172" w="15695986">
                <a:moveTo>
                  <a:pt x="0" y="0"/>
                </a:moveTo>
                <a:lnTo>
                  <a:pt x="15695987" y="0"/>
                </a:lnTo>
                <a:lnTo>
                  <a:pt x="15695987" y="8613172"/>
                </a:lnTo>
                <a:lnTo>
                  <a:pt x="0" y="861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16245" y="210902"/>
            <a:ext cx="11483601" cy="12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1"/>
              </a:lnSpc>
            </a:pPr>
            <a:r>
              <a:rPr lang="en-US" sz="8699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Database Design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6245" y="2591484"/>
            <a:ext cx="13695930" cy="4536777"/>
          </a:xfrm>
          <a:custGeom>
            <a:avLst/>
            <a:gdLst/>
            <a:ahLst/>
            <a:cxnLst/>
            <a:rect r="r" b="b" t="t" l="l"/>
            <a:pathLst>
              <a:path h="4536777" w="13695930">
                <a:moveTo>
                  <a:pt x="0" y="0"/>
                </a:moveTo>
                <a:lnTo>
                  <a:pt x="13695931" y="0"/>
                </a:lnTo>
                <a:lnTo>
                  <a:pt x="13695931" y="4536777"/>
                </a:lnTo>
                <a:lnTo>
                  <a:pt x="0" y="4536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" r="0" b="-2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6770" y="480700"/>
            <a:ext cx="11483601" cy="12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1"/>
              </a:lnSpc>
            </a:pPr>
            <a:r>
              <a:rPr lang="en-US" sz="8699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Project Flow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6245" y="2591484"/>
            <a:ext cx="13695930" cy="4536777"/>
          </a:xfrm>
          <a:custGeom>
            <a:avLst/>
            <a:gdLst/>
            <a:ahLst/>
            <a:cxnLst/>
            <a:rect r="r" b="b" t="t" l="l"/>
            <a:pathLst>
              <a:path h="4536777" w="13695930">
                <a:moveTo>
                  <a:pt x="0" y="0"/>
                </a:moveTo>
                <a:lnTo>
                  <a:pt x="13695931" y="0"/>
                </a:lnTo>
                <a:lnTo>
                  <a:pt x="13695931" y="4536777"/>
                </a:lnTo>
                <a:lnTo>
                  <a:pt x="0" y="4536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" r="0" b="-2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6770" y="480700"/>
            <a:ext cx="11483601" cy="12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1"/>
              </a:lnSpc>
            </a:pPr>
            <a:r>
              <a:rPr lang="en-US" sz="8699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Project Flow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4120" y="1963082"/>
            <a:ext cx="12428056" cy="7295218"/>
          </a:xfrm>
          <a:custGeom>
            <a:avLst/>
            <a:gdLst/>
            <a:ahLst/>
            <a:cxnLst/>
            <a:rect r="r" b="b" t="t" l="l"/>
            <a:pathLst>
              <a:path h="7295218" w="12428056">
                <a:moveTo>
                  <a:pt x="0" y="0"/>
                </a:moveTo>
                <a:lnTo>
                  <a:pt x="12428056" y="0"/>
                </a:lnTo>
                <a:lnTo>
                  <a:pt x="12428056" y="7295218"/>
                </a:lnTo>
                <a:lnTo>
                  <a:pt x="0" y="7295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855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6770" y="480700"/>
            <a:ext cx="11483601" cy="12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1"/>
              </a:lnSpc>
            </a:pPr>
            <a:r>
              <a:rPr lang="en-US" sz="8699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Flow - User &amp; Admin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1410" y="272140"/>
            <a:ext cx="1941532" cy="1294355"/>
          </a:xfrm>
          <a:custGeom>
            <a:avLst/>
            <a:gdLst/>
            <a:ahLst/>
            <a:cxnLst/>
            <a:rect r="r" b="b" t="t" l="l"/>
            <a:pathLst>
              <a:path h="1294355" w="1941532">
                <a:moveTo>
                  <a:pt x="0" y="0"/>
                </a:moveTo>
                <a:lnTo>
                  <a:pt x="1941532" y="0"/>
                </a:lnTo>
                <a:lnTo>
                  <a:pt x="1941532" y="1294354"/>
                </a:lnTo>
                <a:lnTo>
                  <a:pt x="0" y="129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82761">
            <a:off x="-1529354" y="-17390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55175" y="1566494"/>
            <a:ext cx="680556" cy="6805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7221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20926">
            <a:off x="1130119" y="5760932"/>
            <a:ext cx="2513674" cy="3430572"/>
          </a:xfrm>
          <a:custGeom>
            <a:avLst/>
            <a:gdLst/>
            <a:ahLst/>
            <a:cxnLst/>
            <a:rect r="r" b="b" t="t" l="l"/>
            <a:pathLst>
              <a:path h="3430572" w="2513674">
                <a:moveTo>
                  <a:pt x="0" y="0"/>
                </a:moveTo>
                <a:lnTo>
                  <a:pt x="2513673" y="0"/>
                </a:lnTo>
                <a:lnTo>
                  <a:pt x="251367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82761">
            <a:off x="1048147" y="91293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06010" y="1955668"/>
            <a:ext cx="3482561" cy="7528538"/>
          </a:xfrm>
          <a:custGeom>
            <a:avLst/>
            <a:gdLst/>
            <a:ahLst/>
            <a:cxnLst/>
            <a:rect r="r" b="b" t="t" l="l"/>
            <a:pathLst>
              <a:path h="7528538" w="3482561">
                <a:moveTo>
                  <a:pt x="0" y="0"/>
                </a:moveTo>
                <a:lnTo>
                  <a:pt x="3482561" y="0"/>
                </a:lnTo>
                <a:lnTo>
                  <a:pt x="3482561" y="7528538"/>
                </a:lnTo>
                <a:lnTo>
                  <a:pt x="0" y="7528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51518" y="1955668"/>
            <a:ext cx="3482561" cy="7528538"/>
          </a:xfrm>
          <a:custGeom>
            <a:avLst/>
            <a:gdLst/>
            <a:ahLst/>
            <a:cxnLst/>
            <a:rect r="r" b="b" t="t" l="l"/>
            <a:pathLst>
              <a:path h="7528538" w="3482561">
                <a:moveTo>
                  <a:pt x="0" y="0"/>
                </a:moveTo>
                <a:lnTo>
                  <a:pt x="3482561" y="0"/>
                </a:lnTo>
                <a:lnTo>
                  <a:pt x="3482561" y="7528538"/>
                </a:lnTo>
                <a:lnTo>
                  <a:pt x="0" y="7528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46770" y="480700"/>
            <a:ext cx="11483601" cy="12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1"/>
              </a:lnSpc>
            </a:pPr>
            <a:r>
              <a:rPr lang="en-US" sz="8699">
                <a:solidFill>
                  <a:srgbClr val="4D4A7D"/>
                </a:solidFill>
                <a:latin typeface="Fredoka"/>
                <a:ea typeface="Fredoka"/>
                <a:cs typeface="Fredoka"/>
                <a:sym typeface="Fredoka"/>
              </a:rPr>
              <a:t>UI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DAHHxo0zLOQ</dc:identifier>
  <dcterms:modified xsi:type="dcterms:W3CDTF">2011-08-01T06:04:30Z</dcterms:modified>
  <cp:revision>1</cp:revision>
  <dc:title>Snacko</dc:title>
</cp:coreProperties>
</file>